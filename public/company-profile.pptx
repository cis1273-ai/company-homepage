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napToObjects="1">
      <p:cViewPr varScale="1">
        <p:scale>
          <a:sx n="113" d="100"/>
          <a:sy n="113" d="100"/>
        </p:scale>
        <p:origin x="510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01" name="MasterFooterDivider"/>
          <p:cNvCxnSpPr/>
          <p:nvPr/>
        </p:nvCxnSpPr>
        <p:spPr>
          <a:xfrm>
            <a:off x="457200" y="6583680"/>
            <a:ext cx="11247120" cy="0"/>
          </a:xfrm>
          <a:prstGeom prst="line">
            <a:avLst/>
          </a:prstGeom>
          <a:ln w="9525" cap="flat" cmpd="sng" algn="ctr">
            <a:solidFill>
              <a:srgbClr val="BFBFBF"/>
            </a:solidFill>
            <a:prstDash val="solid"/>
            <a:round/>
            <a:headEnd type="none"/>
            <a:tailEnd type="none"/>
          </a:ln>
        </p:spPr>
      </p:cxnSp>
      <p:sp>
        <p:nvSpPr>
          <p:cNvPr id="900" name="MasterAccentBar"/>
          <p:cNvSpPr/>
          <p:nvPr/>
        </p:nvSpPr>
        <p:spPr>
          <a:xfrm>
            <a:off x="457200" y="484632"/>
            <a:ext cx="45720" cy="365760"/>
          </a:xfrm>
          <a:prstGeom prst="rect">
            <a:avLst/>
          </a:prstGeom>
          <a:solidFill>
            <a:srgbClr val="0B3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01" name="MasterHeaderLine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B3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D2D2D2"/>
                </a:solidFill>
                <a:latin typeface="Pretendard"/>
                <a:ea typeface="Pretendard"/>
                <a:cs typeface="Pretendard"/>
              </a:rPr>
              <a:t>엘레브앤컴퍼니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18872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8C8C8C"/>
                </a:solidFill>
                <a:latin typeface="Pretendard"/>
                <a:ea typeface="Pretendard"/>
                <a:cs typeface="Pretendard"/>
              </a:rPr>
              <a:t>COMPANY PROFILE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645920"/>
            <a:ext cx="713232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회사 소개서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743200"/>
            <a:ext cx="71323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  <a:cs typeface="Pretendard"/>
              </a:rPr>
              <a:t>조직과 사람, 그리고 변화를 잇는 통합 AI HR 솔루션 파트너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663440" y="3566160"/>
            <a:ext cx="7068312" cy="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63440" y="370332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0B3041"/>
                </a:solidFill>
                <a:latin typeface="Pretendard"/>
                <a:ea typeface="Pretendard"/>
                <a:cs typeface="Pretendard"/>
              </a:rPr>
              <a:t>AT A GLANCE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977639"/>
            <a:ext cx="137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B3041"/>
                </a:solidFill>
                <a:latin typeface="Pretendard"/>
                <a:ea typeface="Pretendard"/>
                <a:cs typeface="Pretendard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3977639"/>
            <a:ext cx="68580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2010년 설립, 25년 HR 컨설팅 전문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4306824"/>
            <a:ext cx="137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B3041"/>
                </a:solidFill>
                <a:latin typeface="Pretendard"/>
                <a:ea typeface="Pretendard"/>
                <a:cs typeface="Pretendard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4306824"/>
            <a:ext cx="68580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150여 건 프로젝트, 80%+ 재계약률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4636007"/>
            <a:ext cx="137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B3041"/>
                </a:solidFill>
                <a:latin typeface="Pretendard"/>
                <a:ea typeface="Pretendard"/>
                <a:cs typeface="Pretendard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4636007"/>
            <a:ext cx="68580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전통 컨설팅 + AI 기반 HR 시스템 결합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4965192"/>
            <a:ext cx="137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B3041"/>
                </a:solidFill>
                <a:latin typeface="Pretendard"/>
                <a:ea typeface="Pretendard"/>
                <a:cs typeface="Pretendard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4965192"/>
            <a:ext cx="68580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자세한 내용은 본문 참조</a:t>
            </a:r>
          </a:p>
        </p:txBody>
      </p:sp>
      <p:grpSp>
        <p:nvGrpSpPr>
          <p:cNvPr id="3001" name="S1_callout"/>
          <p:cNvGrpSpPr/>
          <p:nvPr/>
        </p:nvGrpSpPr>
        <p:grpSpPr>
          <a:xfrm>
            <a:off x="457200" y="5943600"/>
            <a:ext cx="3291840" cy="530352"/>
            <a:chOff x="457200" y="5943600"/>
            <a:chExt cx="3291840" cy="530352"/>
          </a:xfrm>
        </p:grpSpPr>
        <p:sp>
          <p:nvSpPr>
            <p:cNvPr id="4" name="TextBox 3"/>
            <p:cNvSpPr txBox="1"/>
            <p:nvPr/>
          </p:nvSpPr>
          <p:spPr>
            <a:xfrm>
              <a:off x="457200" y="5943600"/>
              <a:ext cx="32918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900" b="0">
                  <a:solidFill>
                    <a:srgbClr val="D2D2D2"/>
                  </a:solidFill>
                  <a:latin typeface="Pretendard"/>
                  <a:ea typeface="Pretendard"/>
                  <a:cs typeface="Pretendard"/>
                </a:rPr>
                <a:t>Prepared by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457200" y="6199632"/>
              <a:ext cx="32918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엘레브앤컴퍼니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11018520" cy="640080"/>
          </a:xfrm>
          <a:prstGeom prst="rect">
            <a:avLst/>
          </a:prstGeom>
          <a:noFill/>
        </p:spPr>
        <p:txBody>
          <a:bodyPr wrap="square" lIns="0" tIns="12700" rIns="0" bIns="1270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1A1A1A"/>
                </a:solidFill>
                <a:latin typeface="Pretendard"/>
              </a:rPr>
              <a:t>본 자료는 회사소개 → 핵심가치·사업영역 → 성과와 신뢰 → Contact 4부로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11018520" cy="365760"/>
          </a:xfrm>
          <a:prstGeom prst="rect">
            <a:avLst/>
          </a:prstGeom>
          <a:noFill/>
        </p:spPr>
        <p:txBody>
          <a:bodyPr wrap="square" lIns="0" tIns="12700" rIns="0" bIns="1270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8C8C8C"/>
                </a:solidFill>
                <a:latin typeface="Pretendard"/>
              </a:rPr>
              <a:t>엘레브앤컴퍼니를 소개하는 4가지 관점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965960"/>
            <a:ext cx="1097280" cy="758952"/>
          </a:xfrm>
          <a:prstGeom prst="rect">
            <a:avLst/>
          </a:prstGeom>
          <a:noFill/>
        </p:spPr>
        <p:txBody>
          <a:bodyPr wrap="square" lIns="0" tIns="12700" rIns="0" bIns="1270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BFBFBF"/>
                </a:solidFill>
                <a:latin typeface="Pretendard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2075688"/>
            <a:ext cx="8961120" cy="365760"/>
          </a:xfrm>
          <a:prstGeom prst="rect">
            <a:avLst/>
          </a:prstGeom>
          <a:noFill/>
        </p:spPr>
        <p:txBody>
          <a:bodyPr wrap="square" lIns="0" tIns="12700" rIns="0" bIns="12700" anchor="b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A1A1A"/>
                </a:solidFill>
                <a:latin typeface="Pretendard"/>
              </a:rPr>
              <a:t>회사 소개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48840" y="2423160"/>
            <a:ext cx="8961120" cy="292608"/>
          </a:xfrm>
          <a:prstGeom prst="rect">
            <a:avLst/>
          </a:prstGeom>
          <a:noFill/>
        </p:spPr>
        <p:txBody>
          <a:bodyPr wrap="square" lIns="0" tIns="12700" rIns="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A4A4A"/>
                </a:solidFill>
                <a:latin typeface="Pretendard"/>
              </a:rPr>
              <a:t>대표 인사말과 지난 25년의 여정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834639"/>
            <a:ext cx="10972800" cy="7589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834639"/>
            <a:ext cx="1097280" cy="758952"/>
          </a:xfrm>
          <a:prstGeom prst="rect">
            <a:avLst/>
          </a:prstGeom>
          <a:noFill/>
        </p:spPr>
        <p:txBody>
          <a:bodyPr wrap="square" lIns="0" tIns="12700" rIns="0" bIns="1270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BFBFBF"/>
                </a:solidFill>
                <a:latin typeface="Pretendard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2944368"/>
            <a:ext cx="8961120" cy="365760"/>
          </a:xfrm>
          <a:prstGeom prst="rect">
            <a:avLst/>
          </a:prstGeom>
          <a:noFill/>
        </p:spPr>
        <p:txBody>
          <a:bodyPr wrap="square" lIns="0" tIns="12700" rIns="0" bIns="12700" anchor="b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A1A1A"/>
                </a:solidFill>
                <a:latin typeface="Pretendard"/>
              </a:rPr>
              <a:t>핵심 가치와 사업영역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3291839"/>
            <a:ext cx="8961120" cy="292608"/>
          </a:xfrm>
          <a:prstGeom prst="rect">
            <a:avLst/>
          </a:prstGeom>
          <a:noFill/>
        </p:spPr>
        <p:txBody>
          <a:bodyPr wrap="square" lIns="0" tIns="12700" rIns="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A4A4A"/>
                </a:solidFill>
                <a:latin typeface="Pretendard"/>
              </a:rPr>
              <a:t>사람·혁신·전문성, 그리고 2대 사업축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703320"/>
            <a:ext cx="1097280" cy="758952"/>
          </a:xfrm>
          <a:prstGeom prst="rect">
            <a:avLst/>
          </a:prstGeom>
          <a:noFill/>
        </p:spPr>
        <p:txBody>
          <a:bodyPr wrap="square" lIns="0" tIns="12700" rIns="0" bIns="1270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BFBFBF"/>
                </a:solidFill>
                <a:latin typeface="Pretendard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3813048"/>
            <a:ext cx="8961120" cy="365760"/>
          </a:xfrm>
          <a:prstGeom prst="rect">
            <a:avLst/>
          </a:prstGeom>
          <a:noFill/>
        </p:spPr>
        <p:txBody>
          <a:bodyPr wrap="square" lIns="0" tIns="12700" rIns="0" bIns="12700" anchor="b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A1A1A"/>
                </a:solidFill>
                <a:latin typeface="Pretendard"/>
              </a:rPr>
              <a:t>성과와 신뢰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4160520"/>
            <a:ext cx="8961120" cy="292608"/>
          </a:xfrm>
          <a:prstGeom prst="rect">
            <a:avLst/>
          </a:prstGeom>
          <a:noFill/>
        </p:spPr>
        <p:txBody>
          <a:bodyPr wrap="square" lIns="0" tIns="12700" rIns="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A4A4A"/>
                </a:solidFill>
                <a:latin typeface="Pretendard"/>
              </a:rPr>
              <a:t>150여 건 프로젝트와 주요 고객사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572000"/>
            <a:ext cx="1097280" cy="758952"/>
          </a:xfrm>
          <a:prstGeom prst="rect">
            <a:avLst/>
          </a:prstGeom>
          <a:noFill/>
        </p:spPr>
        <p:txBody>
          <a:bodyPr wrap="square" lIns="0" tIns="12700" rIns="0" bIns="1270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BFBFBF"/>
                </a:solidFill>
                <a:latin typeface="Pretendard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4681728"/>
            <a:ext cx="8961120" cy="365760"/>
          </a:xfrm>
          <a:prstGeom prst="rect">
            <a:avLst/>
          </a:prstGeom>
          <a:noFill/>
        </p:spPr>
        <p:txBody>
          <a:bodyPr wrap="square" lIns="0" tIns="12700" rIns="0" bIns="12700" anchor="b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A1A1A"/>
                </a:solidFill>
                <a:latin typeface="Pretendard"/>
              </a:rPr>
              <a:t>함께하는 방법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5029200"/>
            <a:ext cx="8961120" cy="292608"/>
          </a:xfrm>
          <a:prstGeom prst="rect">
            <a:avLst/>
          </a:prstGeom>
          <a:noFill/>
        </p:spPr>
        <p:txBody>
          <a:bodyPr wrap="square" lIns="0" tIns="12700" rIns="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A4A4A"/>
                </a:solidFill>
                <a:latin typeface="Pretendard"/>
              </a:rPr>
              <a:t>대표 프로필과 상담 문의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656832"/>
            <a:ext cx="914400" cy="164592"/>
          </a:xfrm>
          <a:prstGeom prst="rect">
            <a:avLst/>
          </a:prstGeom>
          <a:noFill/>
        </p:spPr>
        <p:txBody>
          <a:bodyPr wrap="square" lIns="0" tIns="12700" rIns="0" bIns="1270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8C8C8C"/>
                </a:solidFill>
                <a:latin typeface="Pretendard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658368" y="347472"/>
            <a:ext cx="110185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25년 한 분야를 지켜온 진심이 상생(相生)의 파트너십으로 이어집니다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05840"/>
            <a:ext cx="110185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C8C8C"/>
                </a:solidFill>
                <a:latin typeface="Pretendard"/>
                <a:ea typeface="Pretendard"/>
                <a:cs typeface="Pretendard"/>
              </a:rPr>
              <a:t>대표 전인식이 전하는 엘레브앤컴퍼니의 지난 시간과 다짐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4251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회사 연혁 · 핵심 사실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08276"/>
            <a:ext cx="2286000" cy="411480"/>
          </a:xfrm>
          <a:prstGeom prst="rect">
            <a:avLst/>
          </a:prstGeom>
          <a:solidFill>
            <a:srgbClr val="0B3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208276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항목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2208276"/>
            <a:ext cx="1645920" cy="411480"/>
          </a:xfrm>
          <a:prstGeom prst="rect">
            <a:avLst/>
          </a:prstGeom>
          <a:solidFill>
            <a:srgbClr val="0B3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0" y="2208276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내용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2208276"/>
            <a:ext cx="1554480" cy="411480"/>
          </a:xfrm>
          <a:prstGeom prst="rect">
            <a:avLst/>
          </a:prstGeom>
          <a:solidFill>
            <a:srgbClr val="0B3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2208276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비고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19756"/>
            <a:ext cx="228600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619756"/>
            <a:ext cx="21488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설립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619756"/>
            <a:ext cx="164592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43200" y="2619756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2010년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2619756"/>
            <a:ext cx="155448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89120" y="2619756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0B3041"/>
                </a:solidFill>
                <a:latin typeface="Pretendard"/>
                <a:ea typeface="Pretendard"/>
                <a:cs typeface="Pretendard"/>
              </a:rPr>
              <a:t>서울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031236"/>
            <a:ext cx="228600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3031236"/>
            <a:ext cx="21488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컨설팅 경력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0" y="3031236"/>
            <a:ext cx="164592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43200" y="3031236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25년+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3031236"/>
            <a:ext cx="155448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89120" y="3031236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0B3041"/>
                </a:solidFill>
                <a:latin typeface="Pretendard"/>
                <a:ea typeface="Pretendard"/>
                <a:cs typeface="Pretendard"/>
              </a:rPr>
              <a:t>대표 전인식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442716"/>
            <a:ext cx="228600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4360" y="3442716"/>
            <a:ext cx="21488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누적 프로젝트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0" y="3442716"/>
            <a:ext cx="164592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743200" y="3442716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150여 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89120" y="3442716"/>
            <a:ext cx="155448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389120" y="3442716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0B3041"/>
                </a:solidFill>
                <a:latin typeface="Pretendard"/>
                <a:ea typeface="Pretendard"/>
                <a:cs typeface="Pretendard"/>
              </a:rPr>
              <a:t>공공 108 · 민간 42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854196"/>
            <a:ext cx="228600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4360" y="3854196"/>
            <a:ext cx="21488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재계약률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0" y="3854196"/>
            <a:ext cx="164592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743200" y="3854196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80%+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89120" y="3854196"/>
            <a:ext cx="155448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389120" y="3854196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0B3041"/>
                </a:solidFill>
                <a:latin typeface="Pretendard"/>
                <a:ea typeface="Pretendard"/>
                <a:cs typeface="Pretendard"/>
              </a:rPr>
              <a:t>업계 평균 상회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265676"/>
            <a:ext cx="228600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94360" y="4265676"/>
            <a:ext cx="21488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전문 강의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0" y="4265676"/>
            <a:ext cx="164592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743200" y="4265676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50여 건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89120" y="4265676"/>
            <a:ext cx="155448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389120" y="4265676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0B3041"/>
                </a:solidFill>
                <a:latin typeface="Pretendard"/>
                <a:ea typeface="Pretendard"/>
                <a:cs typeface="Pretendard"/>
              </a:rPr>
              <a:t>기업·공공기관 대상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4677156"/>
            <a:ext cx="228600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94360" y="4677156"/>
            <a:ext cx="21488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사업 영역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0" y="4677156"/>
            <a:ext cx="164592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743200" y="4677156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2개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89120" y="4677156"/>
            <a:ext cx="155448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389120" y="4677156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B7472A"/>
                </a:solidFill>
                <a:latin typeface="Pretendard"/>
                <a:ea typeface="Pretendard"/>
                <a:cs typeface="Pretendard"/>
              </a:rPr>
              <a:t>컨설팅 + AI HR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0" y="184251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대표 인사말 발췌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17920" y="2208276"/>
            <a:ext cx="5486400" cy="960120"/>
          </a:xfrm>
          <a:prstGeom prst="rect">
            <a:avLst/>
          </a:prstGeom>
          <a:solidFill>
            <a:srgbClr val="E7EAEC"/>
          </a:solidFill>
          <a:ln w="6350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355080" y="2253996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0B3041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75120" y="2345436"/>
            <a:ext cx="49834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"단순히 컨설팅을 제공하는 제3자가 아닙니다. 고객사의 치열한 현장 속으로 들어가 함께 호흡합니다"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75120" y="2848356"/>
            <a:ext cx="49834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8C8C8C"/>
                </a:solidFill>
                <a:latin typeface="Pretendard"/>
                <a:ea typeface="Pretendard"/>
                <a:cs typeface="Pretendard"/>
              </a:rPr>
              <a:t>— 전인식 대표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17920" y="3305556"/>
            <a:ext cx="5486400" cy="960120"/>
          </a:xfrm>
          <a:prstGeom prst="rect">
            <a:avLst/>
          </a:prstGeom>
          <a:solidFill>
            <a:srgbClr val="E7EAEC"/>
          </a:solidFill>
          <a:ln w="6350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355080" y="3351276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0B3041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75120" y="3442716"/>
            <a:ext cx="49834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"CEO의 철학이 조직 말단까지 흐르는 고객 맞춤형 전략을 만듭니다"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75120" y="3945636"/>
            <a:ext cx="49834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8C8C8C"/>
                </a:solidFill>
                <a:latin typeface="Pretendard"/>
                <a:ea typeface="Pretendard"/>
                <a:cs typeface="Pretendard"/>
              </a:rPr>
              <a:t>— 엘레브앤컴퍼니 경영철학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17920" y="4402836"/>
            <a:ext cx="5486400" cy="960120"/>
          </a:xfrm>
          <a:prstGeom prst="rect">
            <a:avLst/>
          </a:prstGeom>
          <a:solidFill>
            <a:srgbClr val="E7EAEC"/>
          </a:solidFill>
          <a:ln w="6350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355080" y="4448555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0B3041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75120" y="4539996"/>
            <a:ext cx="49834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"화려한 수식어보다 확실한 결과로 증명하겠습니다"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75120" y="5042916"/>
            <a:ext cx="49834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8C8C8C"/>
                </a:solidFill>
                <a:latin typeface="Pretendard"/>
                <a:ea typeface="Pretendard"/>
                <a:cs typeface="Pretendard"/>
              </a:rPr>
              <a:t>— 전인식 대표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5609844"/>
            <a:ext cx="73152" cy="457200"/>
          </a:xfrm>
          <a:prstGeom prst="rect">
            <a:avLst/>
          </a:prstGeom>
          <a:solidFill>
            <a:srgbClr val="0B3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40080" y="5609844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0B3041"/>
                </a:solidFill>
                <a:latin typeface="Pretendard"/>
                <a:ea typeface="Pretendard"/>
                <a:cs typeface="Pretendard"/>
              </a:rPr>
              <a:t>MESSAGE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0080" y="5838444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"CEO의 철학이 조직 말단까지 흐르는 고객 맞춤형 전략, 구성원의 성장이 기업의 이익으로 이어지는 상생(相生)의 매커니즘"을 구축하는 것이 엘레브앤컴퍼니가 존재하는 이유이자 사명입니다.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" y="6656832"/>
            <a:ext cx="6217920" cy="1645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8C8C8C"/>
                </a:solidFill>
                <a:latin typeface="Pretendard"/>
                <a:ea typeface="Pretendard"/>
                <a:cs typeface="Pretendard"/>
              </a:rPr>
              <a:t>엘레브앤컴퍼니 대표 전인식 올림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789920" y="6656832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8C8C8C"/>
                </a:solidFill>
                <a:latin typeface="Pretendard"/>
                <a:ea typeface="Pretendard"/>
                <a:cs typeface="Pretendard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658368" y="347472"/>
            <a:ext cx="110185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25년 경력이 150여 건 프로젝트 · 80%+ 재계약률로 증명됨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05840"/>
            <a:ext cx="110185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C8C8C"/>
                </a:solidFill>
                <a:latin typeface="Pretendard"/>
                <a:ea typeface="Pretendard"/>
                <a:cs typeface="Pretendard"/>
              </a:rPr>
              <a:t>한눈에 보는 엘레브앤컴퍼니: 핵심 지표 4종 + 고객 구성 + 핵심 포인트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42516"/>
            <a:ext cx="26517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025396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0B3041"/>
                </a:solidFill>
                <a:latin typeface="Pretendard"/>
                <a:ea typeface="Pretendard"/>
                <a:cs typeface="Pretendard"/>
              </a:rPr>
              <a:t>25년+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19756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4A4A4A"/>
                </a:solidFill>
                <a:latin typeface="Pretendard"/>
                <a:ea typeface="Pretendard"/>
                <a:cs typeface="Pretendard"/>
              </a:rPr>
              <a:t>컨설팅 경력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94076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8C8C8C"/>
                </a:solidFill>
                <a:latin typeface="Pretendard"/>
                <a:ea typeface="Pretendard"/>
                <a:cs typeface="Pretendard"/>
              </a:rPr>
              <a:t>2010년 설립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64408" y="1842516"/>
            <a:ext cx="26517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47288" y="2025396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0B3041"/>
                </a:solidFill>
                <a:latin typeface="Pretendard"/>
                <a:ea typeface="Pretendard"/>
                <a:cs typeface="Pretendard"/>
              </a:rPr>
              <a:t>150여 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2619756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4A4A4A"/>
                </a:solidFill>
                <a:latin typeface="Pretendard"/>
                <a:ea typeface="Pretendard"/>
                <a:cs typeface="Pretendard"/>
              </a:rPr>
              <a:t>누적 프로젝트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2894076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8C8C8C"/>
                </a:solidFill>
                <a:latin typeface="Pretendard"/>
                <a:ea typeface="Pretendard"/>
                <a:cs typeface="Pretendard"/>
              </a:rPr>
              <a:t>공공 108 · 민간 42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1616" y="1842516"/>
            <a:ext cx="26517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54496" y="2025396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0B3041"/>
                </a:solidFill>
                <a:latin typeface="Pretendard"/>
                <a:ea typeface="Pretendard"/>
                <a:cs typeface="Pretendard"/>
              </a:rPr>
              <a:t>80%+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4496" y="2619756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4A4A4A"/>
                </a:solidFill>
                <a:latin typeface="Pretendard"/>
                <a:ea typeface="Pretendard"/>
                <a:cs typeface="Pretendard"/>
              </a:rPr>
              <a:t>재계약률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4496" y="2894076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8C8C8C"/>
                </a:solidFill>
                <a:latin typeface="Pretendard"/>
                <a:ea typeface="Pretendard"/>
                <a:cs typeface="Pretendard"/>
              </a:rPr>
              <a:t>업계 평균 상회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78824" y="1842516"/>
            <a:ext cx="26517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61703" y="2025396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0B3041"/>
                </a:solidFill>
                <a:latin typeface="Pretendard"/>
                <a:ea typeface="Pretendard"/>
                <a:cs typeface="Pretendard"/>
              </a:rPr>
              <a:t>50여 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61703" y="2619756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4A4A4A"/>
                </a:solidFill>
                <a:latin typeface="Pretendard"/>
                <a:ea typeface="Pretendard"/>
                <a:cs typeface="Pretendard"/>
              </a:rPr>
              <a:t>전문 강의 실적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61703" y="2894076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8C8C8C"/>
                </a:solidFill>
                <a:latin typeface="Pretendard"/>
                <a:ea typeface="Pretendard"/>
                <a:cs typeface="Pretendard"/>
              </a:rPr>
              <a:t>기업·공공기관 대상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396996"/>
            <a:ext cx="5669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고객 구성 (건수)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831335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공공부문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88720" y="3867911"/>
            <a:ext cx="3818534" cy="201168"/>
          </a:xfrm>
          <a:prstGeom prst="rect">
            <a:avLst/>
          </a:prstGeom>
          <a:solidFill>
            <a:srgbClr val="0B3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52974" y="3831335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B3041"/>
                </a:solidFill>
                <a:latin typeface="Pretendard"/>
                <a:ea typeface="Pretendard"/>
                <a:cs typeface="Pretendard"/>
              </a:rPr>
              <a:t>108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146804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A4A4A"/>
                </a:solidFill>
                <a:latin typeface="Pretendard"/>
                <a:ea typeface="Pretendard"/>
                <a:cs typeface="Pretendard"/>
              </a:rPr>
              <a:t>민간부문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88720" y="4183380"/>
            <a:ext cx="3247948" cy="201168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482388" y="4146804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C8C8C"/>
                </a:solidFill>
                <a:latin typeface="Pretendard"/>
                <a:ea typeface="Pretendard"/>
                <a:cs typeface="Pretendard"/>
              </a:rPr>
              <a:t>42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3396996"/>
            <a:ext cx="533095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Top 3 포인트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3762756"/>
            <a:ext cx="411480" cy="411480"/>
          </a:xfrm>
          <a:prstGeom prst="rect">
            <a:avLst/>
          </a:prstGeom>
          <a:solidFill>
            <a:srgbClr val="0B3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00800" y="3762756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0" y="3739896"/>
            <a:ext cx="478231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150여 건 프로젝트 중 공공부문이 108건(72%) — 공공기관 특화 전문성 보유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4402836"/>
            <a:ext cx="411480" cy="411480"/>
          </a:xfrm>
          <a:prstGeom prst="rect">
            <a:avLst/>
          </a:prstGeom>
          <a:solidFill>
            <a:srgbClr val="0B3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00800" y="4402836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0" y="4379976"/>
            <a:ext cx="478231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재계약률 80%+, 업계 평균 상회 — 높은 고객 신뢰 지속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5042916"/>
            <a:ext cx="411480" cy="411480"/>
          </a:xfrm>
          <a:prstGeom prst="rect">
            <a:avLst/>
          </a:prstGeom>
          <a:solidFill>
            <a:srgbClr val="0B3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00800" y="5042916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0" y="5020055"/>
            <a:ext cx="478231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AI HR One Intelligence Suite 출시로 전통 컨설팅에서 AI 시스템까지 서비스 확장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656832"/>
            <a:ext cx="6217920" cy="1645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8C8C8C"/>
                </a:solidFill>
                <a:latin typeface="Pretendard"/>
                <a:ea typeface="Pretendard"/>
                <a:cs typeface="Pretendard"/>
              </a:rPr>
              <a:t>Source: 엘레브앤컴퍼니 누적 실적 (2026 기준)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789920" y="6656832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8C8C8C"/>
                </a:solidFill>
                <a:latin typeface="Pretendard"/>
                <a:ea typeface="Pretendard"/>
                <a:cs typeface="Pretendard"/>
              </a:rPr>
              <a:t>4 / 12</a:t>
            </a:r>
          </a:p>
        </p:txBody>
      </p:sp>
      <p:grpSp>
        <p:nvGrpSpPr>
          <p:cNvPr id="3001" name="S5_callout"/>
          <p:cNvGrpSpPr/>
          <p:nvPr/>
        </p:nvGrpSpPr>
        <p:grpSpPr>
          <a:xfrm>
            <a:off x="457200" y="5774436"/>
            <a:ext cx="11155680" cy="457200"/>
            <a:chOff x="457200" y="6080760"/>
            <a:chExt cx="11155680" cy="457200"/>
          </a:xfrm>
          <a:effectLst/>
        </p:grpSpPr>
        <p:sp>
          <p:nvSpPr>
            <p:cNvPr id="49" name="Rectangle 48"/>
            <p:cNvSpPr/>
            <p:nvPr/>
          </p:nvSpPr>
          <p:spPr>
            <a:xfrm>
              <a:off x="457200" y="6099048"/>
              <a:ext cx="73152" cy="457200"/>
            </a:xfrm>
            <a:prstGeom prst="rect">
              <a:avLst/>
            </a:prstGeom>
            <a:solidFill>
              <a:srgbClr val="0B30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640080" y="6099048"/>
              <a:ext cx="10972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18288" rIns="0" bIns="18288" anchor="ctr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900" b="1">
                  <a:solidFill>
                    <a:srgbClr val="0B3041"/>
                  </a:solidFill>
                  <a:latin typeface="Pretendard"/>
                  <a:ea typeface="Pretendard"/>
                  <a:cs typeface="Pretendard"/>
                </a:rPr>
                <a:t>KEY FACT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640080" y="6327648"/>
              <a:ext cx="10972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18288" rIns="0" bIns="18288" anchor="ctr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100" b="0">
                  <a:solidFill>
                    <a:srgbClr val="1A1A1A"/>
                  </a:solidFill>
                  <a:latin typeface="Pretendard"/>
                  <a:ea typeface="Pretendard"/>
                  <a:cs typeface="Pretendard"/>
                </a:rPr>
                <a:t>25년 경력 · 150여 건 프로젝트 · 80%+ 재계약률이 증명하는 신뢰받는 HR 파트너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658368" y="347472"/>
            <a:ext cx="110185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사람·혁신·전문성 — 엘레브앤컴퍼니 모든 컨설팅의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05840"/>
            <a:ext cx="110185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C8C8C"/>
                </a:solidFill>
                <a:latin typeface="Pretendard"/>
                <a:ea typeface="Pretendard"/>
                <a:cs typeface="Pretendard"/>
              </a:rPr>
              <a:t>세 가지 핵심 가치가 프로젝트 전 과정을 관통합니다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42516"/>
            <a:ext cx="2743200" cy="960120"/>
          </a:xfrm>
          <a:prstGeom prst="rect">
            <a:avLst/>
          </a:prstGeom>
          <a:solidFill>
            <a:srgbClr val="E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888236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>
                <a:solidFill>
                  <a:srgbClr val="0B3041"/>
                </a:solidFill>
                <a:latin typeface="Pretendard"/>
                <a:ea typeface="Pretendard"/>
                <a:cs typeface="Pretendard"/>
              </a:rPr>
              <a:t>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82596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0B3041"/>
                </a:solidFill>
                <a:latin typeface="Pretendard"/>
                <a:ea typeface="Pretendard"/>
                <a:cs typeface="Pretendard"/>
              </a:rPr>
              <a:t>PEOPLE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802636"/>
            <a:ext cx="274320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939796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사람 (People)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351276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A4A4A"/>
                </a:solidFill>
                <a:latin typeface="Pretendard"/>
                <a:ea typeface="Pretendard"/>
                <a:cs typeface="Pretendard"/>
              </a:rPr>
              <a:t>구성원의 잠재력을 최우선으로 육성·보호·성장시키는 솔루션을 제공합니다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174236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0B3041"/>
                </a:solidFill>
                <a:latin typeface="Pretendard"/>
                <a:ea typeface="Pretendard"/>
                <a:cs typeface="Pretendard"/>
              </a:rPr>
              <a:t>핵심 실천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448556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• 구성원 잠재력 최우선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814316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• 육성·보호·성장 지원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180076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• 조직 중심 가치 실현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1842516"/>
            <a:ext cx="2743200" cy="960120"/>
          </a:xfrm>
          <a:prstGeom prst="rect">
            <a:avLst/>
          </a:prstGeom>
          <a:solidFill>
            <a:srgbClr val="E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91840" y="1888236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>
                <a:solidFill>
                  <a:srgbClr val="0B3041"/>
                </a:solidFill>
                <a:latin typeface="Pretendard"/>
                <a:ea typeface="Pretendard"/>
                <a:cs typeface="Pretendard"/>
              </a:rPr>
              <a:t>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482596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0B3041"/>
                </a:solidFill>
                <a:latin typeface="Pretendard"/>
                <a:ea typeface="Pretendard"/>
                <a:cs typeface="Pretendard"/>
              </a:rPr>
              <a:t>INNOVATION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2802636"/>
            <a:ext cx="274320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29000" y="2939796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혁신 (Innovation)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3351276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A4A4A"/>
                </a:solidFill>
                <a:latin typeface="Pretendard"/>
                <a:ea typeface="Pretendard"/>
                <a:cs typeface="Pretendard"/>
              </a:rPr>
              <a:t>최첨단 기술과 검증된 HR 원칙을 통합해 미래 지향적 전략을 제시합니다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4174236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0B3041"/>
                </a:solidFill>
                <a:latin typeface="Pretendard"/>
                <a:ea typeface="Pretendard"/>
                <a:cs typeface="Pretendard"/>
              </a:rPr>
              <a:t>핵심 실천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4448556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• 최첨단 기술 통합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4814316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• 검증된 HR 원칙 결합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5180076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• 미래지향적 전략 제시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1842516"/>
            <a:ext cx="2743200" cy="960120"/>
          </a:xfrm>
          <a:prstGeom prst="rect">
            <a:avLst/>
          </a:prstGeom>
          <a:solidFill>
            <a:srgbClr val="E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26480" y="1888236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>
                <a:solidFill>
                  <a:srgbClr val="0B3041"/>
                </a:solidFill>
                <a:latin typeface="Pretendard"/>
                <a:ea typeface="Pretendard"/>
                <a:cs typeface="Pretendard"/>
              </a:rPr>
              <a:t>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2482596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0B3041"/>
                </a:solidFill>
                <a:latin typeface="Pretendard"/>
                <a:ea typeface="Pretendard"/>
                <a:cs typeface="Pretendard"/>
              </a:rPr>
              <a:t>QUALITY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2802636"/>
            <a:ext cx="274320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63640" y="2939796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전문성 (Quality)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3351276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A4A4A"/>
                </a:solidFill>
                <a:latin typeface="Pretendard"/>
                <a:ea typeface="Pretendard"/>
                <a:cs typeface="Pretendard"/>
              </a:rPr>
              <a:t>고정밀 지표, 철저한 분석, 완벽한 실행력을 보장합니다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4174236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0B3041"/>
                </a:solidFill>
                <a:latin typeface="Pretendard"/>
                <a:ea typeface="Pretendard"/>
                <a:cs typeface="Pretendard"/>
              </a:rPr>
              <a:t>핵심 실천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4448556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• 고정밀 지표 기반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4814316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• 철저한 분석 프로세스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5180076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• 완벽한 실행력 보장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656832"/>
            <a:ext cx="6217920" cy="1645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8C8C8C"/>
                </a:solidFill>
                <a:latin typeface="Pretendard"/>
                <a:ea typeface="Pretendard"/>
                <a:cs typeface="Pretendard"/>
              </a:rPr>
              <a:t>Source: 엘레브앤컴퍼니 Brand Identity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789920" y="6656832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8C8C8C"/>
                </a:solidFill>
                <a:latin typeface="Pretendard"/>
                <a:ea typeface="Pretendard"/>
                <a:cs typeface="Pretendard"/>
              </a:rPr>
              <a:t>5 / 12</a:t>
            </a:r>
          </a:p>
        </p:txBody>
      </p:sp>
      <p:grpSp>
        <p:nvGrpSpPr>
          <p:cNvPr id="3001" name="S9_callout"/>
          <p:cNvGrpSpPr/>
          <p:nvPr/>
        </p:nvGrpSpPr>
        <p:grpSpPr>
          <a:xfrm>
            <a:off x="457200" y="5728716"/>
            <a:ext cx="11155680" cy="502920"/>
            <a:chOff x="457200" y="5989320"/>
            <a:chExt cx="11155680" cy="502920"/>
          </a:xfrm>
          <a:effectLst/>
        </p:grpSpPr>
        <p:sp>
          <p:nvSpPr>
            <p:cNvPr id="47" name="Rectangle 46"/>
            <p:cNvSpPr/>
            <p:nvPr/>
          </p:nvSpPr>
          <p:spPr>
            <a:xfrm>
              <a:off x="457200" y="6007607"/>
              <a:ext cx="73152" cy="457200"/>
            </a:xfrm>
            <a:prstGeom prst="rect">
              <a:avLst/>
            </a:prstGeom>
            <a:solidFill>
              <a:srgbClr val="0B30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40080" y="6007607"/>
              <a:ext cx="10972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18288" rIns="0" bIns="18288" anchor="ctr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900" b="1">
                  <a:solidFill>
                    <a:srgbClr val="0B3041"/>
                  </a:solidFill>
                  <a:latin typeface="Pretendard"/>
                  <a:ea typeface="Pretendard"/>
                  <a:cs typeface="Pretendard"/>
                </a:rPr>
                <a:t>COMMITMENT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40080" y="6236207"/>
              <a:ext cx="10972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18288" rIns="0" bIns="18288" anchor="ctr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100" b="0">
                  <a:solidFill>
                    <a:srgbClr val="1A1A1A"/>
                  </a:solidFill>
                  <a:latin typeface="Pretendard"/>
                  <a:ea typeface="Pretendard"/>
                  <a:cs typeface="Pretendard"/>
                </a:rPr>
                <a:t>이 3가지 가치는 조직 진단부터 AI 시스템 구축까지 모든 프로젝트에 동일하게 적용됩니다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658368" y="347472"/>
            <a:ext cx="110185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전통 컨설팅과 AI 시스템, 두 축으로 인사 문제를 완결 해결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05840"/>
            <a:ext cx="110185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C8C8C"/>
                </a:solidFill>
                <a:latin typeface="Pretendard"/>
                <a:ea typeface="Pretendard"/>
                <a:cs typeface="Pretendard"/>
              </a:rPr>
              <a:t>두 사업 영역을 8개 기준으로 비교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819656"/>
            <a:ext cx="2194560" cy="365760"/>
          </a:xfrm>
          <a:prstGeom prst="rect">
            <a:avLst/>
          </a:prstGeom>
          <a:solidFill>
            <a:srgbClr val="0B3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3716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819656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구분</a:t>
            </a:r>
          </a:p>
        </p:txBody>
      </p:sp>
      <p:sp>
        <p:nvSpPr>
          <p:cNvPr id="9" name="Rectangle 8"/>
          <p:cNvSpPr/>
          <p:nvPr/>
        </p:nvSpPr>
        <p:spPr>
          <a:xfrm>
            <a:off x="2788920" y="1819656"/>
            <a:ext cx="4434840" cy="365760"/>
          </a:xfrm>
          <a:prstGeom prst="rect">
            <a:avLst/>
          </a:prstGeom>
          <a:solidFill>
            <a:srgbClr val="0B3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3716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88920" y="1819656"/>
            <a:ext cx="4434840" cy="365760"/>
          </a:xfrm>
          <a:prstGeom prst="rect">
            <a:avLst/>
          </a:prstGeom>
          <a:noFill/>
          <a:ln>
            <a:noFill/>
          </a:ln>
        </p:spPr>
        <p:txBody>
          <a:bodyPr wrap="square" lIns="137160" tIns="0" rIns="13716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조직·인사 컨설팅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1819656"/>
            <a:ext cx="4434840" cy="365760"/>
          </a:xfrm>
          <a:prstGeom prst="rect">
            <a:avLst/>
          </a:prstGeom>
          <a:solidFill>
            <a:srgbClr val="0B3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3716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23760" y="1819656"/>
            <a:ext cx="4434840" cy="365760"/>
          </a:xfrm>
          <a:prstGeom prst="rect">
            <a:avLst/>
          </a:prstGeom>
          <a:noFill/>
          <a:ln>
            <a:noFill/>
          </a:ln>
        </p:spPr>
        <p:txBody>
          <a:bodyPr wrap="square" lIns="137160" tIns="0" rIns="13716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AI HR One Intelligence Suite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185416"/>
            <a:ext cx="21945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2185416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핵심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88920" y="2185416"/>
            <a:ext cx="44348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88920" y="2185416"/>
            <a:ext cx="4434840" cy="365760"/>
          </a:xfrm>
          <a:prstGeom prst="rect">
            <a:avLst/>
          </a:prstGeom>
          <a:noFill/>
          <a:ln>
            <a:noFill/>
          </a:ln>
        </p:spPr>
        <p:txBody>
          <a:bodyPr wrap="square" lIns="13716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조직 진단부터 변화관리까지 전 과정 컨설팅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60" y="2185416"/>
            <a:ext cx="44348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23760" y="2185416"/>
            <a:ext cx="4434840" cy="365760"/>
          </a:xfrm>
          <a:prstGeom prst="rect">
            <a:avLst/>
          </a:prstGeom>
          <a:noFill/>
          <a:ln>
            <a:noFill/>
          </a:ln>
        </p:spPr>
        <p:txBody>
          <a:bodyPr wrap="square" lIns="13716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AI 기반 인사행정 시스템 구축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2551176"/>
            <a:ext cx="21945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2551176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대상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88920" y="2551176"/>
            <a:ext cx="44348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88920" y="2551176"/>
            <a:ext cx="4434840" cy="365760"/>
          </a:xfrm>
          <a:prstGeom prst="rect">
            <a:avLst/>
          </a:prstGeom>
          <a:noFill/>
          <a:ln>
            <a:noFill/>
          </a:ln>
        </p:spPr>
        <p:txBody>
          <a:bodyPr wrap="square" lIns="13716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조직·인사 담당자, 경영진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0" y="2551176"/>
            <a:ext cx="44348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23760" y="2551176"/>
            <a:ext cx="4434840" cy="365760"/>
          </a:xfrm>
          <a:prstGeom prst="rect">
            <a:avLst/>
          </a:prstGeom>
          <a:noFill/>
          <a:ln>
            <a:noFill/>
          </a:ln>
        </p:spPr>
        <p:txBody>
          <a:bodyPr wrap="square" lIns="13716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공공기관·기업 인사 실무 부서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2916936"/>
            <a:ext cx="21945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360" y="2916936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구성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88920" y="2916936"/>
            <a:ext cx="44348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788920" y="2916936"/>
            <a:ext cx="4434840" cy="365760"/>
          </a:xfrm>
          <a:prstGeom prst="rect">
            <a:avLst/>
          </a:prstGeom>
          <a:noFill/>
          <a:ln>
            <a:noFill/>
          </a:ln>
        </p:spPr>
        <p:txBody>
          <a:bodyPr wrap="square" lIns="13716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조직진단 · 조직인사컨설팅 · 변화관리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23760" y="2916936"/>
            <a:ext cx="44348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223760" y="2916936"/>
            <a:ext cx="4434840" cy="365760"/>
          </a:xfrm>
          <a:prstGeom prst="rect">
            <a:avLst/>
          </a:prstGeom>
          <a:noFill/>
          <a:ln>
            <a:noFill/>
          </a:ln>
        </p:spPr>
        <p:txBody>
          <a:bodyPr wrap="square" lIns="13716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인력산정 · 직무평가 · 인사평가 · 복무관리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3282696"/>
            <a:ext cx="21945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4360" y="3282696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방식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88920" y="3282696"/>
            <a:ext cx="44348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788920" y="3282696"/>
            <a:ext cx="4434840" cy="365760"/>
          </a:xfrm>
          <a:prstGeom prst="rect">
            <a:avLst/>
          </a:prstGeom>
          <a:noFill/>
          <a:ln>
            <a:noFill/>
          </a:ln>
        </p:spPr>
        <p:txBody>
          <a:bodyPr wrap="square" lIns="13716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프로젝트 기반 컨설팅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23760" y="3282696"/>
            <a:ext cx="44348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223760" y="3282696"/>
            <a:ext cx="4434840" cy="365760"/>
          </a:xfrm>
          <a:prstGeom prst="rect">
            <a:avLst/>
          </a:prstGeom>
          <a:noFill/>
          <a:ln>
            <a:noFill/>
          </a:ln>
        </p:spPr>
        <p:txBody>
          <a:bodyPr wrap="square" lIns="13716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시스템 구축형 솔루션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3648456"/>
            <a:ext cx="21945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94360" y="3648456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강점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88920" y="3648456"/>
            <a:ext cx="44348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788920" y="3648456"/>
            <a:ext cx="4434840" cy="365760"/>
          </a:xfrm>
          <a:prstGeom prst="rect">
            <a:avLst/>
          </a:prstGeom>
          <a:noFill/>
          <a:ln>
            <a:noFill/>
          </a:ln>
        </p:spPr>
        <p:txBody>
          <a:bodyPr wrap="square" lIns="13716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25년 현장 경험 기반 맞춤 진단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23760" y="3648456"/>
            <a:ext cx="44348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223760" y="3648456"/>
            <a:ext cx="4434840" cy="365760"/>
          </a:xfrm>
          <a:prstGeom prst="rect">
            <a:avLst/>
          </a:prstGeom>
          <a:noFill/>
          <a:ln>
            <a:noFill/>
          </a:ln>
        </p:spPr>
        <p:txBody>
          <a:bodyPr wrap="square" lIns="13716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AI 자동화로 수기 오류 제로화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" y="4014216"/>
            <a:ext cx="21945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94360" y="4014216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적용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88920" y="4014216"/>
            <a:ext cx="44348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788920" y="4014216"/>
            <a:ext cx="4434840" cy="365760"/>
          </a:xfrm>
          <a:prstGeom prst="rect">
            <a:avLst/>
          </a:prstGeom>
          <a:noFill/>
          <a:ln>
            <a:noFill/>
          </a:ln>
        </p:spPr>
        <p:txBody>
          <a:bodyPr wrap="square" lIns="13716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조직 전반 구조·문화 혁신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23760" y="4014216"/>
            <a:ext cx="44348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223760" y="4014216"/>
            <a:ext cx="4434840" cy="365760"/>
          </a:xfrm>
          <a:prstGeom prst="rect">
            <a:avLst/>
          </a:prstGeom>
          <a:noFill/>
          <a:ln>
            <a:noFill/>
          </a:ln>
        </p:spPr>
        <p:txBody>
          <a:bodyPr wrap="square" lIns="13716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인사행정 전산 시스템 전환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4360" y="4379976"/>
            <a:ext cx="21945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94360" y="4379976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기간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88920" y="4379976"/>
            <a:ext cx="44348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788920" y="4379976"/>
            <a:ext cx="4434840" cy="365760"/>
          </a:xfrm>
          <a:prstGeom prst="rect">
            <a:avLst/>
          </a:prstGeom>
          <a:noFill/>
          <a:ln>
            <a:noFill/>
          </a:ln>
        </p:spPr>
        <p:txBody>
          <a:bodyPr wrap="square" lIns="13716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프로젝트 단위 (수개월)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23760" y="4379976"/>
            <a:ext cx="44348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223760" y="4379976"/>
            <a:ext cx="4434840" cy="365760"/>
          </a:xfrm>
          <a:prstGeom prst="rect">
            <a:avLst/>
          </a:prstGeom>
          <a:noFill/>
          <a:ln>
            <a:noFill/>
          </a:ln>
        </p:spPr>
        <p:txBody>
          <a:bodyPr wrap="square" lIns="13716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구축 후 지속 운영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4360" y="4745736"/>
            <a:ext cx="21945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4360" y="4745736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고려사항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88920" y="4745736"/>
            <a:ext cx="44348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788920" y="4745736"/>
            <a:ext cx="4434840" cy="365760"/>
          </a:xfrm>
          <a:prstGeom prst="rect">
            <a:avLst/>
          </a:prstGeom>
          <a:noFill/>
          <a:ln>
            <a:noFill/>
          </a:ln>
        </p:spPr>
        <p:txBody>
          <a:bodyPr wrap="square" lIns="13716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조직문화 변화 저항 관리 필요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223760" y="4745736"/>
            <a:ext cx="44348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223760" y="4745736"/>
            <a:ext cx="4434840" cy="365760"/>
          </a:xfrm>
          <a:prstGeom prst="rect">
            <a:avLst/>
          </a:prstGeom>
          <a:noFill/>
          <a:ln>
            <a:noFill/>
          </a:ln>
        </p:spPr>
        <p:txBody>
          <a:bodyPr wrap="square" lIns="13716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기존 시스템 데이터 이관 필요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5495543"/>
            <a:ext cx="73152" cy="685800"/>
          </a:xfrm>
          <a:prstGeom prst="rect">
            <a:avLst/>
          </a:prstGeom>
          <a:solidFill>
            <a:srgbClr val="0B3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40080" y="5495543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0B3041"/>
                </a:solidFill>
                <a:latin typeface="Pretendard"/>
                <a:ea typeface="Pretendard"/>
                <a:cs typeface="Pretendard"/>
              </a:rPr>
              <a:t>KEY POINT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" y="5724143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두 영역은 독립적으로도, 함께도 작동합니다.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컨설팅으로 문제를 진단하고, AI 시스템으로 지속 운영합니다.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" y="6656832"/>
            <a:ext cx="6217920" cy="1645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8C8C8C"/>
                </a:solidFill>
                <a:latin typeface="Pretendard"/>
                <a:ea typeface="Pretendard"/>
                <a:cs typeface="Pretendard"/>
              </a:rPr>
              <a:t>Source: 엘레브앤컴퍼니 사업영역 정의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789920" y="6656832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8C8C8C"/>
                </a:solidFill>
                <a:latin typeface="Pretendard"/>
                <a:ea typeface="Pretendard"/>
                <a:cs typeface="Pretendard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658368" y="347472"/>
            <a:ext cx="110185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조직·인사 컨설팅 — 진단부터 변화관리까지 3단계 서비스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05840"/>
            <a:ext cx="110185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C8C8C"/>
                </a:solidFill>
                <a:latin typeface="Pretendard"/>
                <a:ea typeface="Pretendard"/>
                <a:cs typeface="Pretendard"/>
              </a:rPr>
              <a:t>조직 진단 · 조직·인사 컨설팅 · 변화 관리, 세 영역의 세부 서비스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42516"/>
            <a:ext cx="2743200" cy="960120"/>
          </a:xfrm>
          <a:prstGeom prst="rect">
            <a:avLst/>
          </a:prstGeom>
          <a:solidFill>
            <a:srgbClr val="E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888236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>
                <a:solidFill>
                  <a:srgbClr val="0B3041"/>
                </a:solidFill>
                <a:latin typeface="Pretendard"/>
                <a:ea typeface="Pretendard"/>
                <a:cs typeface="Pretendard"/>
              </a:rPr>
              <a:t>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82596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0B3041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802636"/>
            <a:ext cx="274320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939796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조직 진단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351276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A4A4A"/>
                </a:solidFill>
                <a:latin typeface="Pretendard"/>
                <a:ea typeface="Pretendard"/>
                <a:cs typeface="Pretendard"/>
              </a:rPr>
              <a:t>조직의 현재 상태를 정밀 진단합니다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174236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0B3041"/>
                </a:solidFill>
                <a:latin typeface="Pretendard"/>
                <a:ea typeface="Pretendard"/>
                <a:cs typeface="Pretendard"/>
              </a:rPr>
              <a:t>세부 서비스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448556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• 조직역량 진단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814316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• 직무조사 및 분석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180076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• 조직문화 · 인사시스템 진단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1842516"/>
            <a:ext cx="2743200" cy="960120"/>
          </a:xfrm>
          <a:prstGeom prst="rect">
            <a:avLst/>
          </a:prstGeom>
          <a:solidFill>
            <a:srgbClr val="E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91840" y="1888236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>
                <a:solidFill>
                  <a:srgbClr val="0B3041"/>
                </a:solidFill>
                <a:latin typeface="Pretendard"/>
                <a:ea typeface="Pretendard"/>
                <a:cs typeface="Pretendard"/>
              </a:rPr>
              <a:t>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482596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0B3041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2802636"/>
            <a:ext cx="274320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29000" y="2939796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조직·인사 컨설팅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3351276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A4A4A"/>
                </a:solidFill>
                <a:latin typeface="Pretendard"/>
                <a:ea typeface="Pretendard"/>
                <a:cs typeface="Pretendard"/>
              </a:rPr>
              <a:t>조직구조와 인사제도를 함께 재설계합니다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4174236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0B3041"/>
                </a:solidFill>
                <a:latin typeface="Pretendard"/>
                <a:ea typeface="Pretendard"/>
                <a:cs typeface="Pretendard"/>
              </a:rPr>
              <a:t>세부 서비스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4448556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• 조직구조 재설계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4814316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• 인력산정 매트릭스 분석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5180076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• 성과관리·보수체계 및 직무중심 제도 개선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1842516"/>
            <a:ext cx="2743200" cy="960120"/>
          </a:xfrm>
          <a:prstGeom prst="rect">
            <a:avLst/>
          </a:prstGeom>
          <a:solidFill>
            <a:srgbClr val="E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26480" y="1888236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>
                <a:solidFill>
                  <a:srgbClr val="0B3041"/>
                </a:solidFill>
                <a:latin typeface="Pretendard"/>
                <a:ea typeface="Pretendard"/>
                <a:cs typeface="Pretendard"/>
              </a:rPr>
              <a:t>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2482596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0B3041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2802636"/>
            <a:ext cx="274320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63640" y="2939796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변화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3351276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A4A4A"/>
                </a:solidFill>
                <a:latin typeface="Pretendard"/>
                <a:ea typeface="Pretendard"/>
                <a:cs typeface="Pretendard"/>
              </a:rPr>
              <a:t>변화가 조직에 뿌리내리도록 지원합니다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4174236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0B3041"/>
                </a:solidFill>
                <a:latin typeface="Pretendard"/>
                <a:ea typeface="Pretendard"/>
                <a:cs typeface="Pretendard"/>
              </a:rPr>
              <a:t>세부 서비스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4448556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• 조직 활성화 워크샵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4814316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• 소통 채널 구축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5180076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• 변화관리 에이전트 양성 · 사후 모니터링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656832"/>
            <a:ext cx="6217920" cy="1645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8C8C8C"/>
                </a:solidFill>
                <a:latin typeface="Pretendard"/>
                <a:ea typeface="Pretendard"/>
                <a:cs typeface="Pretendard"/>
              </a:rPr>
              <a:t>Source: 엘레브앤컴퍼니 서비스 구성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789920" y="6656832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8C8C8C"/>
                </a:solidFill>
                <a:latin typeface="Pretendard"/>
                <a:ea typeface="Pretendard"/>
                <a:cs typeface="Pretendard"/>
              </a:rPr>
              <a:t>7 / 12</a:t>
            </a:r>
          </a:p>
        </p:txBody>
      </p:sp>
      <p:grpSp>
        <p:nvGrpSpPr>
          <p:cNvPr id="3001" name="S9_callout"/>
          <p:cNvGrpSpPr/>
          <p:nvPr/>
        </p:nvGrpSpPr>
        <p:grpSpPr>
          <a:xfrm>
            <a:off x="457200" y="5728716"/>
            <a:ext cx="11155680" cy="502920"/>
            <a:chOff x="457200" y="5989320"/>
            <a:chExt cx="11155680" cy="502920"/>
          </a:xfrm>
          <a:effectLst/>
        </p:grpSpPr>
        <p:sp>
          <p:nvSpPr>
            <p:cNvPr id="47" name="Rectangle 46"/>
            <p:cNvSpPr/>
            <p:nvPr/>
          </p:nvSpPr>
          <p:spPr>
            <a:xfrm>
              <a:off x="457200" y="6007607"/>
              <a:ext cx="73152" cy="457200"/>
            </a:xfrm>
            <a:prstGeom prst="rect">
              <a:avLst/>
            </a:prstGeom>
            <a:solidFill>
              <a:srgbClr val="0B30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40080" y="6007607"/>
              <a:ext cx="10972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18288" rIns="0" bIns="18288" anchor="ctr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900" b="1">
                  <a:solidFill>
                    <a:srgbClr val="0B3041"/>
                  </a:solidFill>
                  <a:latin typeface="Pretendard"/>
                  <a:ea typeface="Pretendard"/>
                  <a:cs typeface="Pretendard"/>
                </a:rPr>
                <a:t>PROCESS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40080" y="6236207"/>
              <a:ext cx="10972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18288" rIns="0" bIns="18288" anchor="ctr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100" b="0">
                  <a:solidFill>
                    <a:srgbClr val="1A1A1A"/>
                  </a:solidFill>
                  <a:latin typeface="Pretendard"/>
                  <a:ea typeface="Pretendard"/>
                  <a:cs typeface="Pretendard"/>
                </a:rPr>
                <a:t>세 서비스는 순차적으로도, 필요한 영역만 선택해서도 진행할 수 있습니다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658368" y="347472"/>
            <a:ext cx="110185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AI HR One Intelligence Suite — 인력산정부터 복무관리까지 하나의 흐름으로 연결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05840"/>
            <a:ext cx="110185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C8C8C"/>
                </a:solidFill>
                <a:latin typeface="Pretendard"/>
                <a:ea typeface="Pretendard"/>
                <a:cs typeface="Pretendard"/>
              </a:rPr>
              <a:t>AI 기반 E-HR 시스템의 4대 모듈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42516"/>
            <a:ext cx="2743200" cy="960120"/>
          </a:xfrm>
          <a:prstGeom prst="rect">
            <a:avLst/>
          </a:prstGeom>
          <a:solidFill>
            <a:srgbClr val="E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888236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>
                <a:solidFill>
                  <a:srgbClr val="0B3041"/>
                </a:solidFill>
                <a:latin typeface="Pretendard"/>
                <a:ea typeface="Pretendard"/>
                <a:cs typeface="Pretendard"/>
              </a:rPr>
              <a:t>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82596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0B3041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802636"/>
            <a:ext cx="274320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939796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인력산정 시스템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351276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A4A4A"/>
                </a:solidFill>
                <a:latin typeface="Pretendard"/>
                <a:ea typeface="Pretendard"/>
                <a:cs typeface="Pretendard"/>
              </a:rPr>
              <a:t>인력의 질적 가치를 정량 시각화합니다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174236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0B3041"/>
                </a:solidFill>
                <a:latin typeface="Pretendard"/>
                <a:ea typeface="Pretendard"/>
                <a:cs typeface="Pretendard"/>
              </a:rPr>
              <a:t>핵심 기능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448556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• 업무량 매트릭스 분석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814316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• 직무평가 연계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180076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• 인력분포 진단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1842516"/>
            <a:ext cx="2743200" cy="960120"/>
          </a:xfrm>
          <a:prstGeom prst="rect">
            <a:avLst/>
          </a:prstGeom>
          <a:solidFill>
            <a:srgbClr val="E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91840" y="1888236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>
                <a:solidFill>
                  <a:srgbClr val="0B3041"/>
                </a:solidFill>
                <a:latin typeface="Pretendard"/>
                <a:ea typeface="Pretendard"/>
                <a:cs typeface="Pretendard"/>
              </a:rPr>
              <a:t>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482596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0B3041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2802636"/>
            <a:ext cx="274320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29000" y="2939796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직무평가 시스템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3351276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A4A4A"/>
                </a:solidFill>
                <a:latin typeface="Pretendard"/>
                <a:ea typeface="Pretendard"/>
                <a:cs typeface="Pretendard"/>
              </a:rPr>
              <a:t>수기 작업에서 자동화로 전환합니다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4174236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0B3041"/>
                </a:solidFill>
                <a:latin typeface="Pretendard"/>
                <a:ea typeface="Pretendard"/>
                <a:cs typeface="Pretendard"/>
              </a:rPr>
              <a:t>핵심 기능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4448556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• 기관 맞춤형 모델 설계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4814316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• 다양한 표준화 방식 지원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5180076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• 실시간 결과 자동 도출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1842516"/>
            <a:ext cx="2743200" cy="960120"/>
          </a:xfrm>
          <a:prstGeom prst="rect">
            <a:avLst/>
          </a:prstGeom>
          <a:solidFill>
            <a:srgbClr val="E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26480" y="1888236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>
                <a:solidFill>
                  <a:srgbClr val="0B3041"/>
                </a:solidFill>
                <a:latin typeface="Pretendard"/>
                <a:ea typeface="Pretendard"/>
                <a:cs typeface="Pretendard"/>
              </a:rPr>
              <a:t>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2482596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0B3041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2802636"/>
            <a:ext cx="274320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63640" y="2939796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인사평가 시스템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3351276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A4A4A"/>
                </a:solidFill>
                <a:latin typeface="Pretendard"/>
                <a:ea typeface="Pretendard"/>
                <a:cs typeface="Pretendard"/>
              </a:rPr>
              <a:t>평가 일원화와 AI 피드백을 자동화합니다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4174236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0B3041"/>
                </a:solidFill>
                <a:latin typeface="Pretendard"/>
                <a:ea typeface="Pretendard"/>
                <a:cs typeface="Pretendard"/>
              </a:rPr>
              <a:t>핵심 기능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4448556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• 업적·역량·다면평가 통합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4814316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• AI 피드백 자동 생성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5180076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• 3단 권한·이력 관리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61120" y="1842516"/>
            <a:ext cx="2743200" cy="960120"/>
          </a:xfrm>
          <a:prstGeom prst="rect">
            <a:avLst/>
          </a:prstGeom>
          <a:solidFill>
            <a:srgbClr val="E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961120" y="1888236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>
                <a:solidFill>
                  <a:srgbClr val="0B3041"/>
                </a:solidFill>
                <a:latin typeface="Pretendard"/>
                <a:ea typeface="Pretendard"/>
                <a:cs typeface="Pretendard"/>
              </a:rPr>
              <a:t>◑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0" y="2482596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0B3041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61120" y="2802636"/>
            <a:ext cx="274320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098280" y="2939796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복무관리 시스템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98280" y="3351276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A4A4A"/>
                </a:solidFill>
                <a:latin typeface="Pretendard"/>
                <a:ea typeface="Pretendard"/>
                <a:cs typeface="Pretendard"/>
              </a:rPr>
              <a:t>종이 없는 전자결재와 실시간 근태 파악을 지원합니다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98280" y="4174236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0B3041"/>
                </a:solidFill>
                <a:latin typeface="Pretendard"/>
                <a:ea typeface="Pretendard"/>
                <a:cs typeface="Pretendard"/>
              </a:rPr>
              <a:t>핵심 기능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98280" y="4448556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• GPS 출퇴근 기록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98280" y="4814316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• 3단계 자동 결재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98280" y="5180076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• 실시간 대시보드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656832"/>
            <a:ext cx="6217920" cy="1645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8C8C8C"/>
                </a:solidFill>
                <a:latin typeface="Pretendard"/>
                <a:ea typeface="Pretendard"/>
                <a:cs typeface="Pretendard"/>
              </a:rPr>
              <a:t>Source: HR One Intelligence Suite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789920" y="6656832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8C8C8C"/>
                </a:solidFill>
                <a:latin typeface="Pretendard"/>
                <a:ea typeface="Pretendard"/>
                <a:cs typeface="Pretendard"/>
              </a:rPr>
              <a:t>8 / 12</a:t>
            </a:r>
          </a:p>
        </p:txBody>
      </p:sp>
      <p:grpSp>
        <p:nvGrpSpPr>
          <p:cNvPr id="3001" name="S9_callout"/>
          <p:cNvGrpSpPr/>
          <p:nvPr/>
        </p:nvGrpSpPr>
        <p:grpSpPr>
          <a:xfrm>
            <a:off x="457200" y="5728716"/>
            <a:ext cx="11155680" cy="502920"/>
            <a:chOff x="457200" y="5989320"/>
            <a:chExt cx="11155680" cy="502920"/>
          </a:xfrm>
          <a:effectLst/>
        </p:grpSpPr>
        <p:sp>
          <p:nvSpPr>
            <p:cNvPr id="47" name="Rectangle 46"/>
            <p:cNvSpPr/>
            <p:nvPr/>
          </p:nvSpPr>
          <p:spPr>
            <a:xfrm>
              <a:off x="457200" y="6007607"/>
              <a:ext cx="73152" cy="457200"/>
            </a:xfrm>
            <a:prstGeom prst="rect">
              <a:avLst/>
            </a:prstGeom>
            <a:solidFill>
              <a:srgbClr val="0B30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40080" y="6007607"/>
              <a:ext cx="10972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18288" rIns="0" bIns="18288" anchor="ctr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900" b="1">
                  <a:solidFill>
                    <a:srgbClr val="0B3041"/>
                  </a:solidFill>
                  <a:latin typeface="Pretendard"/>
                  <a:ea typeface="Pretendard"/>
                  <a:cs typeface="Pretendard"/>
                </a:rPr>
                <a:t>INTEGRATION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40080" y="6236207"/>
              <a:ext cx="10972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18288" rIns="0" bIns="18288" anchor="ctr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100" b="0">
                  <a:solidFill>
                    <a:srgbClr val="1A1A1A"/>
                  </a:solidFill>
                  <a:latin typeface="Pretendard"/>
                  <a:ea typeface="Pretendard"/>
                  <a:cs typeface="Pretendard"/>
                </a:rPr>
                <a:t>4개 시스템은 하나로 연결되어 인사 전 과정을 지원합니다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658368" y="347472"/>
            <a:ext cx="110185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25년 실무 경력의 대표 컨설턴트가 프로젝트를 직접 리드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05840"/>
            <a:ext cx="110185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C8C8C"/>
                </a:solidFill>
                <a:latin typeface="Pretendard"/>
                <a:ea typeface="Pretendard"/>
                <a:cs typeface="Pretendard"/>
              </a:rPr>
              <a:t>전인식 대표 컨설턴트 프로필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42516"/>
            <a:ext cx="11247120" cy="777240"/>
          </a:xfrm>
          <a:prstGeom prst="rect">
            <a:avLst/>
          </a:prstGeom>
          <a:solidFill>
            <a:srgbClr val="0B3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933956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D2D2D2"/>
                </a:solidFill>
                <a:latin typeface="Pretendard"/>
                <a:ea typeface="Pretendard"/>
                <a:cs typeface="Pretendard"/>
              </a:rPr>
              <a:t>PRINCIPAL CONSULTANT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16836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전인식 · 조직 및 인적자원관리 전략 전문가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56916"/>
            <a:ext cx="2743200" cy="457200"/>
          </a:xfrm>
          <a:prstGeom prst="rect">
            <a:avLst/>
          </a:prstGeom>
          <a:solidFill>
            <a:srgbClr val="0B3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784348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D2D2D2"/>
                </a:solidFill>
                <a:latin typeface="Pretendard"/>
                <a:ea typeface="Pretendard"/>
                <a:cs typeface="Pretendard"/>
              </a:rPr>
              <a:t>경력 개요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930652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14116"/>
            <a:ext cx="27432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3396996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• 네모파트너즈 이사 역임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854196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• 약 25년 컨설팅 실무 경력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311396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• 조직 비전과 인사 전략을 정밀 정렬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2756916"/>
            <a:ext cx="2743200" cy="457200"/>
          </a:xfrm>
          <a:prstGeom prst="rect">
            <a:avLst/>
          </a:prstGeom>
          <a:solidFill>
            <a:srgbClr val="0B3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29000" y="2784348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D2D2D2"/>
                </a:solidFill>
                <a:latin typeface="Pretendard"/>
                <a:ea typeface="Pretendard"/>
                <a:cs typeface="Pretendard"/>
              </a:rPr>
              <a:t>트랙 레코드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2930652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3214116"/>
            <a:ext cx="27432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29000" y="3396996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• 누적 150여 건 프로젝트 완수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3854196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• 공공 108건 · 민간 42건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4311396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• 중앙부처부터 대기업까지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2756916"/>
            <a:ext cx="2743200" cy="457200"/>
          </a:xfrm>
          <a:prstGeom prst="rect">
            <a:avLst/>
          </a:prstGeom>
          <a:solidFill>
            <a:srgbClr val="0B3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63640" y="2784348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D2D2D2"/>
                </a:solidFill>
                <a:latin typeface="Pretendard"/>
                <a:ea typeface="Pretendard"/>
                <a:cs typeface="Pretendard"/>
              </a:rPr>
              <a:t>전문 영역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2930652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3214116"/>
            <a:ext cx="27432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63640" y="3396996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• 조직 전략 및 거버넌스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3854196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• 직무 중심 HR 솔루션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4311396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• 성과관리 및 평가 환류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61120" y="2756916"/>
            <a:ext cx="2743200" cy="457200"/>
          </a:xfrm>
          <a:prstGeom prst="rect">
            <a:avLst/>
          </a:prstGeom>
          <a:solidFill>
            <a:srgbClr val="0B3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098280" y="2784348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D2D2D2"/>
                </a:solidFill>
                <a:latin typeface="Pretendard"/>
                <a:ea typeface="Pretendard"/>
                <a:cs typeface="Pretendard"/>
              </a:rPr>
              <a:t>지식 자본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8280" y="2930652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34" name="Rectangle 33"/>
          <p:cNvSpPr/>
          <p:nvPr/>
        </p:nvSpPr>
        <p:spPr>
          <a:xfrm>
            <a:off x="8961120" y="3214116"/>
            <a:ext cx="27432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098280" y="3396996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• 전문서적 2권 저술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80" y="3854196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• 총 46회+ 전문 강연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8280" y="4311396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• 이론과 실무 융합 지식 공유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088636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핵심 성과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454396"/>
            <a:ext cx="2743200" cy="777240"/>
          </a:xfrm>
          <a:prstGeom prst="rect">
            <a:avLst/>
          </a:prstGeom>
          <a:solidFill>
            <a:srgbClr val="E7EAEC"/>
          </a:solidFill>
          <a:ln w="6350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94360" y="5518404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0B3041"/>
                </a:solidFill>
                <a:latin typeface="Pretendard"/>
                <a:ea typeface="Pretendard"/>
                <a:cs typeface="Pretendard"/>
              </a:rPr>
              <a:t>경력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91840" y="5454396"/>
            <a:ext cx="2743200" cy="777240"/>
          </a:xfrm>
          <a:prstGeom prst="rect">
            <a:avLst/>
          </a:prstGeom>
          <a:solidFill>
            <a:srgbClr val="E7EAEC"/>
          </a:solidFill>
          <a:ln w="6350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429000" y="5518404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0B3041"/>
                </a:solidFill>
                <a:latin typeface="Pretendard"/>
                <a:ea typeface="Pretendard"/>
                <a:cs typeface="Pretendard"/>
              </a:rPr>
              <a:t>프로젝트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26480" y="5454396"/>
            <a:ext cx="2743200" cy="777240"/>
          </a:xfrm>
          <a:prstGeom prst="rect">
            <a:avLst/>
          </a:prstGeom>
          <a:solidFill>
            <a:srgbClr val="E7EAEC"/>
          </a:solidFill>
          <a:ln w="6350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263640" y="5518404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0B3041"/>
                </a:solidFill>
                <a:latin typeface="Pretendard"/>
                <a:ea typeface="Pretendard"/>
                <a:cs typeface="Pretendard"/>
              </a:rPr>
              <a:t>저서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961120" y="5454396"/>
            <a:ext cx="2743200" cy="777240"/>
          </a:xfrm>
          <a:prstGeom prst="rect">
            <a:avLst/>
          </a:prstGeom>
          <a:solidFill>
            <a:srgbClr val="E7EAEC"/>
          </a:solidFill>
          <a:ln w="6350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098280" y="5518404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0B3041"/>
                </a:solidFill>
                <a:latin typeface="Pretendard"/>
                <a:ea typeface="Pretendard"/>
                <a:cs typeface="Pretendard"/>
              </a:rPr>
              <a:t>강연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656832"/>
            <a:ext cx="6217920" cy="1645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8C8C8C"/>
                </a:solidFill>
                <a:latin typeface="Pretendard"/>
                <a:ea typeface="Pretendard"/>
                <a:cs typeface="Pretendard"/>
              </a:rPr>
              <a:t>Source: 전인식 대표 프로필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789920" y="6656832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8C8C8C"/>
                </a:solidFill>
                <a:latin typeface="Pretendard"/>
                <a:ea typeface="Pretendard"/>
                <a:cs typeface="Pretendard"/>
              </a:rPr>
              <a:t>9 / 12</a:t>
            </a:r>
          </a:p>
        </p:txBody>
      </p:sp>
      <p:grpSp>
        <p:nvGrpSpPr>
          <p:cNvPr id="3001" name="S33_callout"/>
          <p:cNvGrpSpPr/>
          <p:nvPr/>
        </p:nvGrpSpPr>
        <p:grpSpPr>
          <a:xfrm>
            <a:off x="594360" y="5728716"/>
            <a:ext cx="11064240" cy="365760"/>
            <a:chOff x="594360" y="5989320"/>
            <a:chExt cx="11064240" cy="365760"/>
          </a:xfrm>
        </p:grpSpPr>
        <p:sp>
          <p:nvSpPr>
            <p:cNvPr id="41" name="TextBox 40"/>
            <p:cNvSpPr txBox="1"/>
            <p:nvPr/>
          </p:nvSpPr>
          <p:spPr>
            <a:xfrm>
              <a:off x="594360" y="5989320"/>
              <a:ext cx="13716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400" b="1">
                  <a:solidFill>
                    <a:srgbClr val="0B3041"/>
                  </a:solidFill>
                  <a:latin typeface="Pretendard"/>
                  <a:ea typeface="Pretendard"/>
                  <a:cs typeface="Pretendard"/>
                </a:rPr>
                <a:t>25년+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1965960" y="6035040"/>
              <a:ext cx="11887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sz="850" b="0">
                  <a:solidFill>
                    <a:srgbClr val="4A4A4A"/>
                  </a:solidFill>
                  <a:latin typeface="Pretendard"/>
                  <a:ea typeface="Pretendard"/>
                  <a:cs typeface="Pretendard"/>
                </a:rPr>
                <a:t>컨설팅 실무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3429000" y="5989320"/>
              <a:ext cx="13716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400" b="1">
                  <a:solidFill>
                    <a:srgbClr val="0B3041"/>
                  </a:solidFill>
                  <a:latin typeface="Pretendard"/>
                  <a:ea typeface="Pretendard"/>
                  <a:cs typeface="Pretendard"/>
                </a:rPr>
                <a:t>150여 건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4800600" y="6035040"/>
              <a:ext cx="11887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sz="850" b="0">
                  <a:solidFill>
                    <a:srgbClr val="4A4A4A"/>
                  </a:solidFill>
                  <a:latin typeface="Pretendard"/>
                  <a:ea typeface="Pretendard"/>
                  <a:cs typeface="Pretendard"/>
                </a:rPr>
                <a:t>공공 + 민간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263640" y="5989320"/>
              <a:ext cx="13716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400" b="1">
                  <a:solidFill>
                    <a:srgbClr val="0B3041"/>
                  </a:solidFill>
                  <a:latin typeface="Pretendard"/>
                  <a:ea typeface="Pretendard"/>
                  <a:cs typeface="Pretendard"/>
                </a:rPr>
                <a:t>2권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7635240" y="6035040"/>
              <a:ext cx="11887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sz="850" b="0">
                  <a:solidFill>
                    <a:srgbClr val="4A4A4A"/>
                  </a:solidFill>
                  <a:latin typeface="Pretendard"/>
                  <a:ea typeface="Pretendard"/>
                  <a:cs typeface="Pretendard"/>
                </a:rPr>
                <a:t>전문서적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9098280" y="5989320"/>
              <a:ext cx="13716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400" b="1">
                  <a:solidFill>
                    <a:srgbClr val="0B3041"/>
                  </a:solidFill>
                  <a:latin typeface="Pretendard"/>
                  <a:ea typeface="Pretendard"/>
                  <a:cs typeface="Pretendard"/>
                </a:rPr>
                <a:t>46회+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10469880" y="6035040"/>
              <a:ext cx="11887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sz="850" b="0">
                  <a:solidFill>
                    <a:srgbClr val="4A4A4A"/>
                  </a:solidFill>
                  <a:latin typeface="Pretendard"/>
                  <a:ea typeface="Pretendard"/>
                  <a:cs typeface="Pretendard"/>
                </a:rPr>
                <a:t>기업·공공기관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11018520" cy="640080"/>
          </a:xfrm>
          <a:prstGeom prst="rect">
            <a:avLst/>
          </a:prstGeom>
          <a:noFill/>
        </p:spPr>
        <p:txBody>
          <a:bodyPr wrap="square" lIns="0" tIns="12700" rIns="0" bIns="1270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1A1A1A"/>
                </a:solidFill>
                <a:latin typeface="Pretendard"/>
              </a:rPr>
              <a:t>공공기관 108건 · 민간기업 42건이 함께한 신뢰의 기록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11018520" cy="365760"/>
          </a:xfrm>
          <a:prstGeom prst="rect">
            <a:avLst/>
          </a:prstGeom>
          <a:noFill/>
        </p:spPr>
        <p:txBody>
          <a:bodyPr wrap="square" lIns="0" tIns="12700" rIns="0" bIns="1270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8C8C8C"/>
                </a:solidFill>
                <a:latin typeface="Pretendard"/>
              </a:rPr>
              <a:t>주요 고객사 · 부문별 프로젝트 건수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280160" cy="475488"/>
          </a:xfrm>
          <a:prstGeom prst="rect">
            <a:avLst/>
          </a:prstGeom>
          <a:noFill/>
        </p:spPr>
        <p:txBody>
          <a:bodyPr wrap="square" lIns="0" tIns="12700" rIns="0" bIns="12700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>
                <a:solidFill>
                  <a:srgbClr val="1A1A1A"/>
                </a:solidFill>
                <a:latin typeface="Pretendard"/>
              </a:rPr>
              <a:t>공공부문</a:t>
            </a:r>
          </a:p>
        </p:txBody>
      </p:sp>
      <p:sp>
        <p:nvSpPr>
          <p:cNvPr id="5" name="Rectangle 4"/>
          <p:cNvSpPr/>
          <p:nvPr/>
        </p:nvSpPr>
        <p:spPr>
          <a:xfrm>
            <a:off x="2194560" y="2249424"/>
            <a:ext cx="8412480" cy="274320"/>
          </a:xfrm>
          <a:prstGeom prst="rect">
            <a:avLst/>
          </a:prstGeom>
          <a:solidFill>
            <a:srgbClr val="0B3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98480" y="2148840"/>
            <a:ext cx="1097280" cy="475488"/>
          </a:xfrm>
          <a:prstGeom prst="rect">
            <a:avLst/>
          </a:prstGeom>
          <a:noFill/>
        </p:spPr>
        <p:txBody>
          <a:bodyPr wrap="square" lIns="0" tIns="12700" rIns="0" bIns="1270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0B3041"/>
                </a:solidFill>
                <a:latin typeface="Pretendard"/>
              </a:rPr>
              <a:t>108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24328"/>
            <a:ext cx="1280160" cy="475488"/>
          </a:xfrm>
          <a:prstGeom prst="rect">
            <a:avLst/>
          </a:prstGeom>
          <a:noFill/>
        </p:spPr>
        <p:txBody>
          <a:bodyPr wrap="square" lIns="0" tIns="12700" rIns="0" bIns="12700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>
                <a:solidFill>
                  <a:srgbClr val="1A1A1A"/>
                </a:solidFill>
                <a:latin typeface="Pretendard"/>
              </a:rPr>
              <a:t>민간부문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2724912"/>
            <a:ext cx="6440804" cy="274320"/>
          </a:xfrm>
          <a:prstGeom prst="rect">
            <a:avLst/>
          </a:prstGeom>
          <a:solidFill>
            <a:srgbClr val="0B3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26805" y="2624328"/>
            <a:ext cx="1097280" cy="475488"/>
          </a:xfrm>
          <a:prstGeom prst="rect">
            <a:avLst/>
          </a:prstGeom>
          <a:noFill/>
        </p:spPr>
        <p:txBody>
          <a:bodyPr wrap="square" lIns="0" tIns="12700" rIns="0" bIns="1270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0B3041"/>
                </a:solidFill>
                <a:latin typeface="Pretendard"/>
              </a:rPr>
              <a:t>42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85416" y="2148840"/>
            <a:ext cx="13716" cy="285292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73152" cy="457200"/>
          </a:xfrm>
          <a:prstGeom prst="rect">
            <a:avLst/>
          </a:prstGeom>
          <a:solidFill>
            <a:srgbClr val="0B3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5760720"/>
            <a:ext cx="10789920" cy="228600"/>
          </a:xfrm>
          <a:prstGeom prst="rect">
            <a:avLst/>
          </a:prstGeom>
          <a:noFill/>
        </p:spPr>
        <p:txBody>
          <a:bodyPr wrap="square" lIns="0" tIns="12700" rIns="0" bIns="1270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0B3041"/>
                </a:solidFill>
                <a:latin typeface="Pretendard"/>
              </a:rPr>
              <a:t>TRUSTED CLIENTS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989320"/>
            <a:ext cx="10789920" cy="228600"/>
          </a:xfrm>
          <a:prstGeom prst="rect">
            <a:avLst/>
          </a:prstGeom>
          <a:noFill/>
        </p:spPr>
        <p:txBody>
          <a:bodyPr wrap="square" lIns="0" tIns="12700" rIns="0" bIns="1270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A1A1A"/>
                </a:solidFill>
                <a:latin typeface="Pretendard"/>
              </a:rPr>
              <a:t>외교부·대검찰청·경찰청 등 중앙부처부터 LH·한국도로공사 등 공공기관, Merck·KB생명 등 민간기업까지 다수 기관과 함께했습니다 (대표 고객사 예시)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658368" y="347472"/>
            <a:ext cx="110185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엘레브앤컴퍼니를 선택해야 하는 이유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05840"/>
            <a:ext cx="110185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C8C8C"/>
                </a:solidFill>
                <a:latin typeface="Pretendard"/>
                <a:ea typeface="Pretendard"/>
                <a:cs typeface="Pretendard"/>
              </a:rPr>
              <a:t>25년 경력이 만든 4가지 차별점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42516"/>
            <a:ext cx="2743200" cy="960120"/>
          </a:xfrm>
          <a:prstGeom prst="rect">
            <a:avLst/>
          </a:prstGeom>
          <a:solidFill>
            <a:srgbClr val="E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888236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>
                <a:solidFill>
                  <a:srgbClr val="0B3041"/>
                </a:solidFill>
                <a:latin typeface="Pretendard"/>
                <a:ea typeface="Pretendard"/>
                <a:cs typeface="Pretendard"/>
              </a:rPr>
              <a:t>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82596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0B3041"/>
                </a:solidFill>
                <a:latin typeface="Pretendard"/>
                <a:ea typeface="Pretendard"/>
                <a:cs typeface="Pretendard"/>
              </a:rPr>
              <a:t>TRACK RECORD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802636"/>
            <a:ext cx="274320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939796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25년+ 전문성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351276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A4A4A"/>
                </a:solidFill>
                <a:latin typeface="Pretendard"/>
                <a:ea typeface="Pretendard"/>
                <a:cs typeface="Pretendard"/>
              </a:rPr>
              <a:t>2010년 설립 이후 한 분야에서 쌓아온 깊이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174236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0B3041"/>
                </a:solidFill>
                <a:latin typeface="Pretendard"/>
                <a:ea typeface="Pretendard"/>
                <a:cs typeface="Pretendard"/>
              </a:rPr>
              <a:t>핵심 포인트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448556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• 25년+ 컨설팅 경력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814316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• 150여 건 프로젝트 수행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180076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• 공공·민간 전 영역 경험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1842516"/>
            <a:ext cx="2743200" cy="960120"/>
          </a:xfrm>
          <a:prstGeom prst="rect">
            <a:avLst/>
          </a:prstGeom>
          <a:solidFill>
            <a:srgbClr val="E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91840" y="1888236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>
                <a:solidFill>
                  <a:srgbClr val="0B3041"/>
                </a:solidFill>
                <a:latin typeface="Pretendard"/>
                <a:ea typeface="Pretendard"/>
                <a:cs typeface="Pretendard"/>
              </a:rPr>
              <a:t>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482596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0B3041"/>
                </a:solidFill>
                <a:latin typeface="Pretendard"/>
                <a:ea typeface="Pretendard"/>
                <a:cs typeface="Pretendard"/>
              </a:rPr>
              <a:t>RETENTION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2802636"/>
            <a:ext cx="274320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29000" y="2939796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80%+ 재계약률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3351276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A4A4A"/>
                </a:solidFill>
                <a:latin typeface="Pretendard"/>
                <a:ea typeface="Pretendard"/>
                <a:cs typeface="Pretendard"/>
              </a:rPr>
              <a:t>결과로 증명하는 신뢰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4174236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0B3041"/>
                </a:solidFill>
                <a:latin typeface="Pretendard"/>
                <a:ea typeface="Pretendard"/>
                <a:cs typeface="Pretendard"/>
              </a:rPr>
              <a:t>핵심 포인트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4448556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• 업계 평균 상회 재계약률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4814316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• 장기 파트너십 다수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5180076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• 화려한 수식어보다 확실한 결과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1842516"/>
            <a:ext cx="2743200" cy="960120"/>
          </a:xfrm>
          <a:prstGeom prst="rect">
            <a:avLst/>
          </a:prstGeom>
          <a:solidFill>
            <a:srgbClr val="E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26480" y="1888236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>
                <a:solidFill>
                  <a:srgbClr val="0B3041"/>
                </a:solidFill>
                <a:latin typeface="Pretendard"/>
                <a:ea typeface="Pretendard"/>
                <a:cs typeface="Pretendard"/>
              </a:rPr>
              <a:t>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2482596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0B3041"/>
                </a:solidFill>
                <a:latin typeface="Pretendard"/>
                <a:ea typeface="Pretendard"/>
                <a:cs typeface="Pretendard"/>
              </a:rPr>
              <a:t>INTEGRATION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2802636"/>
            <a:ext cx="274320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63640" y="2939796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컨설팅 + AI 시스템 결합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3351276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A4A4A"/>
                </a:solidFill>
                <a:latin typeface="Pretendard"/>
                <a:ea typeface="Pretendard"/>
                <a:cs typeface="Pretendard"/>
              </a:rPr>
              <a:t>전통 컨설팅과 AI 기술의 유기적 통합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4174236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0B3041"/>
                </a:solidFill>
                <a:latin typeface="Pretendard"/>
                <a:ea typeface="Pretendard"/>
                <a:cs typeface="Pretendard"/>
              </a:rPr>
              <a:t>핵심 포인트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4448556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• 조직·인사 컨설팅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4814316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• AI HR One Intelligence Suite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5180076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• 진단부터 시스템 구축까지 원스톱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61120" y="1842516"/>
            <a:ext cx="2743200" cy="960120"/>
          </a:xfrm>
          <a:prstGeom prst="rect">
            <a:avLst/>
          </a:prstGeom>
          <a:solidFill>
            <a:srgbClr val="E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961120" y="1888236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>
                <a:solidFill>
                  <a:srgbClr val="0B3041"/>
                </a:solidFill>
                <a:latin typeface="Pretendard"/>
                <a:ea typeface="Pretendard"/>
                <a:cs typeface="Pretendard"/>
              </a:rPr>
              <a:t>◑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0" y="2482596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0B3041"/>
                </a:solidFill>
                <a:latin typeface="Pretendard"/>
                <a:ea typeface="Pretendard"/>
                <a:cs typeface="Pretendard"/>
              </a:rPr>
              <a:t>KNOWLEDGE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61120" y="2802636"/>
            <a:ext cx="274320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098280" y="2939796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현장 중심 지식 자본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98280" y="3351276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A4A4A"/>
                </a:solidFill>
                <a:latin typeface="Pretendard"/>
                <a:ea typeface="Pretendard"/>
                <a:cs typeface="Pretendard"/>
              </a:rPr>
              <a:t>이론이 아닌 현장에서 검증된 노하우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98280" y="4174236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0B3041"/>
                </a:solidFill>
                <a:latin typeface="Pretendard"/>
                <a:ea typeface="Pretendard"/>
                <a:cs typeface="Pretendard"/>
              </a:rPr>
              <a:t>핵심 포인트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98280" y="4448556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• 50여 건 전문 강의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98280" y="4814316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• 전문서적 저술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98280" y="5180076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• 현장 맞춤형 솔루션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656832"/>
            <a:ext cx="6217920" cy="1645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8C8C8C"/>
                </a:solidFill>
                <a:latin typeface="Pretendard"/>
                <a:ea typeface="Pretendard"/>
                <a:cs typeface="Pretendard"/>
              </a:rPr>
              <a:t>Source: 엘레브앤컴퍼니 Value Proposition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789920" y="6656832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8C8C8C"/>
                </a:solidFill>
                <a:latin typeface="Pretendard"/>
                <a:ea typeface="Pretendard"/>
                <a:cs typeface="Pretendard"/>
              </a:rPr>
              <a:t>11 / 12</a:t>
            </a:r>
          </a:p>
        </p:txBody>
      </p:sp>
      <p:grpSp>
        <p:nvGrpSpPr>
          <p:cNvPr id="3001" name="S9_callout"/>
          <p:cNvGrpSpPr/>
          <p:nvPr/>
        </p:nvGrpSpPr>
        <p:grpSpPr>
          <a:xfrm>
            <a:off x="457200" y="5728716"/>
            <a:ext cx="11155680" cy="502920"/>
            <a:chOff x="457200" y="5989320"/>
            <a:chExt cx="11155680" cy="502920"/>
          </a:xfrm>
          <a:effectLst/>
        </p:grpSpPr>
        <p:sp>
          <p:nvSpPr>
            <p:cNvPr id="47" name="Rectangle 46"/>
            <p:cNvSpPr/>
            <p:nvPr/>
          </p:nvSpPr>
          <p:spPr>
            <a:xfrm>
              <a:off x="457200" y="6007607"/>
              <a:ext cx="73152" cy="457200"/>
            </a:xfrm>
            <a:prstGeom prst="rect">
              <a:avLst/>
            </a:prstGeom>
            <a:solidFill>
              <a:srgbClr val="0B30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40080" y="6007607"/>
              <a:ext cx="10972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18288" rIns="0" bIns="18288" anchor="ctr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900" b="1">
                  <a:solidFill>
                    <a:srgbClr val="0B3041"/>
                  </a:solidFill>
                  <a:latin typeface="Pretendard"/>
                  <a:ea typeface="Pretendard"/>
                  <a:cs typeface="Pretendard"/>
                </a:rPr>
                <a:t>WHY US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40080" y="6236207"/>
              <a:ext cx="10972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18288" rIns="0" bIns="18288" anchor="ctr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100" b="0">
                  <a:solidFill>
                    <a:srgbClr val="1A1A1A"/>
                  </a:solidFill>
                  <a:latin typeface="Pretendard"/>
                  <a:ea typeface="Pretendard"/>
                  <a:cs typeface="Pretendard"/>
                </a:rPr>
                <a:t>25년 경력·150여 건 트랙레코드·80%+ 재계약률 — 결과로 증명하는 HR 파트너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B3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4712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0" b="1">
                <a:solidFill>
                  <a:srgbClr val="0B3041"/>
                </a:solidFill>
                <a:latin typeface="Pretendard"/>
                <a:ea typeface="Pretendard"/>
                <a:cs typeface="Pretendard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8892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4A4A4A"/>
                </a:solidFill>
                <a:latin typeface="Pretendard"/>
                <a:ea typeface="Pretendard"/>
                <a:cs typeface="Pretendard"/>
              </a:rPr>
              <a:t>엘레브앤컴퍼니와 함께 조직의 미래를 설계하세요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0" y="3611880"/>
            <a:ext cx="3959352" cy="0"/>
          </a:xfrm>
          <a:prstGeom prst="line">
            <a:avLst/>
          </a:prstGeom>
          <a:ln w="19050">
            <a:solidFill>
              <a:srgbClr val="0B30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952347" y="4114800"/>
            <a:ext cx="2468880" cy="1188720"/>
          </a:xfrm>
          <a:prstGeom prst="rect">
            <a:avLst/>
          </a:prstGeom>
          <a:solidFill>
            <a:srgbClr val="E7EAEC"/>
          </a:solidFill>
          <a:ln w="6350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2347" y="434340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0B3041"/>
                </a:solidFill>
                <a:latin typeface="Pretendard"/>
                <a:ea typeface="Pretendard"/>
                <a:cs typeface="Pretendard"/>
              </a:rPr>
              <a:t>REPRESENTATIVE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347" y="466344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전인식 대표</a:t>
            </a:r>
          </a:p>
        </p:txBody>
      </p:sp>
      <p:sp>
        <p:nvSpPr>
          <p:cNvPr id="9" name="Rectangle 8"/>
          <p:cNvSpPr/>
          <p:nvPr/>
        </p:nvSpPr>
        <p:spPr>
          <a:xfrm>
            <a:off x="3558387" y="4114800"/>
            <a:ext cx="2468880" cy="1188720"/>
          </a:xfrm>
          <a:prstGeom prst="rect">
            <a:avLst/>
          </a:prstGeom>
          <a:solidFill>
            <a:srgbClr val="E7EAEC"/>
          </a:solidFill>
          <a:ln w="6350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58387" y="434340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0B3041"/>
                </a:solidFill>
                <a:latin typeface="Pretendard"/>
                <a:ea typeface="Pretendard"/>
                <a:cs typeface="Pretendard"/>
              </a:rPr>
              <a:t>CONTACT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8387" y="466344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ellev.co.kr (상담 문의 폼)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64427" y="4114800"/>
            <a:ext cx="2468880" cy="1188720"/>
          </a:xfrm>
          <a:prstGeom prst="rect">
            <a:avLst/>
          </a:prstGeom>
          <a:solidFill>
            <a:srgbClr val="E7EAEC"/>
          </a:solidFill>
          <a:ln w="6350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64427" y="434340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0B3041"/>
                </a:solidFill>
                <a:latin typeface="Pretendard"/>
                <a:ea typeface="Pretendard"/>
                <a:cs typeface="Pretendard"/>
              </a:rPr>
              <a:t>SINCE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64427" y="466344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2010년 설립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0467" y="4114800"/>
            <a:ext cx="2468880" cy="1188720"/>
          </a:xfrm>
          <a:prstGeom prst="rect">
            <a:avLst/>
          </a:prstGeom>
          <a:solidFill>
            <a:srgbClr val="E7EAEC"/>
          </a:solidFill>
          <a:ln w="6350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70467" y="434340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0B3041"/>
                </a:solidFill>
                <a:latin typeface="Pretendard"/>
                <a:ea typeface="Pretendard"/>
                <a:cs typeface="Pretendard"/>
              </a:rPr>
              <a:t>WEB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0467" y="466344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www.ellev.co.kr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656832"/>
            <a:ext cx="112471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0">
                <a:solidFill>
                  <a:srgbClr val="8C8C8C"/>
                </a:solidFill>
                <a:latin typeface="Pretendard"/>
                <a:ea typeface="Pretendard"/>
                <a:cs typeface="Pretendard"/>
              </a:rPr>
              <a:t>감사합니다 · 12 / 12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57200"/>
            <a:ext cx="45720" cy="201168"/>
          </a:xfrm>
          <a:prstGeom prst="rect">
            <a:avLst/>
          </a:prstGeom>
          <a:solidFill>
            <a:srgbClr val="0B3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438912"/>
            <a:ext cx="548640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3041"/>
                </a:solidFill>
                <a:latin typeface="Pretendard"/>
                <a:ea typeface="Pretendard"/>
                <a:cs typeface="Pretendard"/>
              </a:rPr>
              <a:t>COMPANY PROFILE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6b093ba-aaf8-42c5-830d-827b5a4def0a}" enabled="1" method="Privileged" siteId="{b3f31999-c01a-46bb-bf13-93c924523ed9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7534</Words>
  <Application>Microsoft Office PowerPoint</Application>
  <PresentationFormat>와이드스크린</PresentationFormat>
  <Paragraphs>1951</Paragraphs>
  <Slides>53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53</vt:i4>
      </vt:variant>
    </vt:vector>
  </HeadingPairs>
  <TitlesOfParts>
    <vt:vector size="57" baseType="lpstr">
      <vt:lpstr>Pretendard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임장식</dc:creator>
  <cp:keywords/>
  <dc:description>generated using python-pptx</dc:description>
  <cp:lastModifiedBy>장식 임</cp:lastModifiedBy>
  <cp:revision>4</cp:revision>
  <dcterms:created xsi:type="dcterms:W3CDTF">2013-01-27T09:14:16Z</dcterms:created>
  <dcterms:modified xsi:type="dcterms:W3CDTF">2026-07-08T15:26:24Z</dcterms:modified>
  <cp:category/>
</cp:coreProperties>
</file>